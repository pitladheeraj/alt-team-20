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1"/>
  </p:notesMasterIdLst>
  <p:sldIdLst>
    <p:sldId id="256" r:id="rId3"/>
    <p:sldId id="257" r:id="rId4"/>
    <p:sldId id="258" r:id="rId5"/>
    <p:sldId id="259" r:id="rId6"/>
    <p:sldId id="266" r:id="rId7"/>
    <p:sldId id="267" r:id="rId8"/>
    <p:sldId id="268" r:id="rId9"/>
    <p:sldId id="265" r:id="rId10"/>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18-08-2026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18-08-2026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18-08-2026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18-08-2026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18-08-2026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18-08-2026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1702"/>
            <a:ext cx="10515600" cy="1128395"/>
          </a:xfrm>
        </p:spPr>
        <p:txBody>
          <a:bodyPr>
            <a:noAutofit/>
          </a:bodyPr>
          <a:lstStyle/>
          <a:p>
            <a:pPr algn="ctr">
              <a:lnSpc>
                <a:spcPct val="100000"/>
              </a:lnSpc>
            </a:pPr>
            <a:br>
              <a:rPr lang="da-DK" sz="2400" b="1" dirty="0">
                <a:latin typeface="Times New Roman" panose="02020603050405020304" pitchFamily="18" charset="0"/>
                <a:cs typeface="Times New Roman" panose="02020603050405020304" pitchFamily="18" charset="0"/>
              </a:rPr>
            </a:br>
            <a:r>
              <a:rPr lang="da-DK" sz="2400" b="1" dirty="0">
                <a:solidFill>
                  <a:srgbClr val="00B050"/>
                </a:solidFill>
                <a:latin typeface="Times New Roman" panose="02020603050405020304" pitchFamily="18" charset="0"/>
                <a:cs typeface="Times New Roman" panose="02020603050405020304" pitchFamily="18" charset="0"/>
              </a:rPr>
              <a:t>APPLIED MACHINE LEARNING FOR TEXT ANALYTICS (</a:t>
            </a:r>
            <a:r>
              <a:rPr lang="en-US" sz="2400" b="1" cap="all" dirty="0">
                <a:ln/>
                <a:solidFill>
                  <a:srgbClr val="00B050"/>
                </a:solidFill>
                <a:latin typeface="Calibri"/>
                <a:cs typeface="Poppins" panose="00000500000000000000" pitchFamily="2" charset="0"/>
                <a:sym typeface="BioRhyme ExtraBold"/>
              </a:rPr>
              <a:t>24ALT3101)</a:t>
            </a:r>
            <a:br>
              <a:rPr lang="en-US" sz="2400" b="1" cap="all" dirty="0">
                <a:ln/>
                <a:solidFill>
                  <a:srgbClr val="00B050"/>
                </a:solidFill>
                <a:latin typeface="Calibri"/>
                <a:cs typeface="Poppins" panose="00000500000000000000" pitchFamily="2" charset="0"/>
                <a:sym typeface="BioRhyme ExtraBold"/>
              </a:rPr>
            </a:br>
            <a:r>
              <a:rPr lang="en-US" sz="2400" b="1" dirty="0">
                <a:solidFill>
                  <a:srgbClr val="00B050"/>
                </a:solidFill>
                <a:latin typeface="Times New Roman" panose="02020603050405020304" pitchFamily="18" charset="0"/>
                <a:cs typeface="Times New Roman" panose="02020603050405020304" pitchFamily="18" charset="0"/>
              </a:rPr>
              <a:t>REVIEW – 1</a:t>
            </a:r>
            <a:br>
              <a:rPr lang="en-US" sz="2400" b="1" dirty="0">
                <a:solidFill>
                  <a:srgbClr val="00B050"/>
                </a:solidFill>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Project Title</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7" y="2074599"/>
            <a:ext cx="10515600" cy="1530151"/>
          </a:xfrm>
        </p:spPr>
        <p:txBody>
          <a:bodyPr>
            <a:noAutofit/>
          </a:bodyPr>
          <a:lstStyle/>
          <a:p>
            <a:pPr marL="0" indent="0" algn="ctr">
              <a:buNone/>
            </a:pPr>
            <a:r>
              <a:rPr lang="en-IN" sz="2400" b="1" dirty="0"/>
              <a:t>Adaptive Reinforcement Learning for Smart Building Energy Management</a:t>
            </a:r>
          </a:p>
          <a:p>
            <a:pPr marL="0" indent="0" algn="ctr">
              <a:buNone/>
            </a:pPr>
            <a:r>
              <a:rPr lang="en-IN" sz="1800" b="1" dirty="0"/>
              <a:t>2420030675-P Dheeraj</a:t>
            </a:r>
          </a:p>
          <a:p>
            <a:pPr marL="0" indent="0" algn="ctr">
              <a:buNone/>
            </a:pPr>
            <a:r>
              <a:rPr lang="en-IN" sz="1800" b="1" dirty="0"/>
              <a:t>2420030653-T Charan</a:t>
            </a:r>
          </a:p>
          <a:p>
            <a:pPr marL="0" indent="0" algn="ctr">
              <a:buNone/>
            </a:pPr>
            <a:r>
              <a:rPr lang="en-IN" sz="1800" b="1" dirty="0"/>
              <a:t>2420030372-DineshKumar</a:t>
            </a:r>
          </a:p>
          <a:p>
            <a:pPr marL="0" indent="0" algn="ctr">
              <a:buNone/>
            </a:pPr>
            <a:endParaRPr lang="en-IN" sz="2400" dirty="0"/>
          </a:p>
          <a:p>
            <a:pPr marL="0" indent="0" algn="ctr">
              <a:buNone/>
            </a:pP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18-08-2026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r>
              <a:rPr lang="en-US" dirty="0">
                <a:solidFill>
                  <a:srgbClr val="00B050"/>
                </a:solidFill>
              </a:rPr>
              <a:t>BATCH:</a:t>
            </a:r>
            <a:r>
              <a:rPr lang="en-US" dirty="0"/>
              <a:t>20</a:t>
            </a:r>
          </a:p>
          <a:p>
            <a:pPr marL="0" indent="0" algn="ctr">
              <a:buNone/>
            </a:pPr>
            <a:r>
              <a:rPr lang="en-US" sz="2400" b="1" dirty="0">
                <a:solidFill>
                  <a:schemeClr val="accent4"/>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0"/>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208934" y="1181905"/>
            <a:ext cx="11845413" cy="4736901"/>
          </a:xfrm>
        </p:spPr>
        <p:txBody>
          <a:bodyPr>
            <a:normAutofit lnSpcReduction="10000"/>
          </a:bodyPr>
          <a:lstStyle/>
          <a:p>
            <a:pPr>
              <a:spcAft>
                <a:spcPts val="1000"/>
              </a:spcAft>
              <a:defRPr sz="1100" b="1">
                <a:solidFill>
                  <a:srgbClr val="9E0B11"/>
                </a:solidFill>
                <a:latin typeface="Arial"/>
              </a:defRPr>
            </a:pPr>
            <a:r>
              <a:rPr lang="en-US" sz="2000" dirty="0"/>
              <a:t>BACKGROUND &amp; IMPORTANCE</a:t>
            </a:r>
          </a:p>
          <a:p>
            <a:pPr>
              <a:spcAft>
                <a:spcPts val="800"/>
              </a:spcAft>
              <a:defRPr sz="1600" b="1">
                <a:solidFill>
                  <a:srgbClr val="1F2937"/>
                </a:solidFill>
                <a:latin typeface="Georgia"/>
              </a:defRPr>
            </a:pPr>
            <a:r>
              <a:rPr lang="en-US" sz="3200" dirty="0"/>
              <a:t>Managing smart buildings effectively requires adaptive control.</a:t>
            </a:r>
          </a:p>
          <a:p>
            <a:pPr>
              <a:spcAft>
                <a:spcPts val="1400"/>
              </a:spcAft>
              <a:defRPr sz="1200">
                <a:solidFill>
                  <a:srgbClr val="4B5563"/>
                </a:solidFill>
                <a:latin typeface="Arial"/>
              </a:defRPr>
            </a:pPr>
            <a:r>
              <a:rPr lang="en-US" sz="2400" dirty="0"/>
              <a:t>Smart buildings generate massive energy-related data using HVAC, smart meters, occupancy sensors, and lighting systems. Traditional energy management often relies on fixed schedules or rule-based control which fails to adapt to dynamic changes in occupancy, weather patterns, and fluctuating electricity prices.</a:t>
            </a:r>
          </a:p>
          <a:p>
            <a:pPr>
              <a:spcAft>
                <a:spcPts val="600"/>
              </a:spcAft>
              <a:defRPr sz="1150" b="1">
                <a:solidFill>
                  <a:srgbClr val="1F2937"/>
                </a:solidFill>
                <a:latin typeface="Arial"/>
              </a:defRPr>
            </a:pPr>
            <a:r>
              <a:rPr lang="en-US" sz="2400" dirty="0"/>
              <a:t>Real-World Application Scope:</a:t>
            </a:r>
          </a:p>
          <a:p>
            <a:pPr>
              <a:defRPr sz="1150">
                <a:solidFill>
                  <a:srgbClr val="4B5563"/>
                </a:solidFill>
                <a:latin typeface="Arial"/>
              </a:defRPr>
            </a:pPr>
            <a:r>
              <a:rPr lang="en-US" sz="2400" dirty="0"/>
              <a:t>•  HVAC (Heating, Ventilation, Air Conditioning)</a:t>
            </a:r>
            <a:br>
              <a:rPr lang="en-US" sz="2400" dirty="0"/>
            </a:br>
            <a:r>
              <a:rPr lang="en-US" sz="2400" dirty="0"/>
              <a:t>•  Smart Lighting &amp; Energy Storage Systems (Battery)</a:t>
            </a:r>
            <a:br>
              <a:rPr lang="en-US" sz="2400" dirty="0"/>
            </a:br>
            <a:r>
              <a:rPr lang="en-US" sz="2400" dirty="0"/>
              <a:t>•  Demand Response &amp; Flexible Utility Loads</a:t>
            </a:r>
          </a:p>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flipV="1">
            <a:off x="12191999" y="6636773"/>
            <a:ext cx="1504335" cy="84701"/>
          </a:xfrm>
        </p:spPr>
        <p:txBody>
          <a:bodyPr>
            <a:normAutofit fontScale="25000" lnSpcReduction="20000"/>
          </a:bodyPr>
          <a:lstStyle/>
          <a:p>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3" name="Rectangle 2">
            <a:extLst>
              <a:ext uri="{FF2B5EF4-FFF2-40B4-BE49-F238E27FC236}">
                <a16:creationId xmlns:a16="http://schemas.microsoft.com/office/drawing/2014/main" id="{5CDB9D78-2EFD-7D01-E654-B3610EA1A4B6}"/>
              </a:ext>
            </a:extLst>
          </p:cNvPr>
          <p:cNvSpPr/>
          <p:nvPr/>
        </p:nvSpPr>
        <p:spPr>
          <a:xfrm>
            <a:off x="655320" y="1371600"/>
            <a:ext cx="3383280" cy="411480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 name="Rectangle 3">
            <a:extLst>
              <a:ext uri="{FF2B5EF4-FFF2-40B4-BE49-F238E27FC236}">
                <a16:creationId xmlns:a16="http://schemas.microsoft.com/office/drawing/2014/main" id="{08BA5A7C-D00D-5AA7-8AC9-8C3B324E9808}"/>
              </a:ext>
            </a:extLst>
          </p:cNvPr>
          <p:cNvSpPr/>
          <p:nvPr/>
        </p:nvSpPr>
        <p:spPr>
          <a:xfrm>
            <a:off x="655320" y="1371600"/>
            <a:ext cx="3383280" cy="109728"/>
          </a:xfrm>
          <a:prstGeom prst="rect">
            <a:avLst/>
          </a:prstGeom>
          <a:solidFill>
            <a:srgbClr val="9E0B1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 name="TextBox 7">
            <a:extLst>
              <a:ext uri="{FF2B5EF4-FFF2-40B4-BE49-F238E27FC236}">
                <a16:creationId xmlns:a16="http://schemas.microsoft.com/office/drawing/2014/main" id="{19137BA6-8E2A-21B7-F813-8C16717C4B50}"/>
              </a:ext>
            </a:extLst>
          </p:cNvPr>
          <p:cNvSpPr txBox="1"/>
          <p:nvPr/>
        </p:nvSpPr>
        <p:spPr>
          <a:xfrm>
            <a:off x="929640" y="1737360"/>
            <a:ext cx="2834640" cy="35661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00" b="1">
                <a:solidFill>
                  <a:srgbClr val="8C939F"/>
                </a:solidFill>
                <a:latin typeface="Arial"/>
              </a:defRPr>
            </a:pPr>
            <a:r>
              <a:rPr dirty="0"/>
              <a:t>OBJECTIVE 1</a:t>
            </a:r>
          </a:p>
          <a:p>
            <a:pPr>
              <a:spcAft>
                <a:spcPts val="1400"/>
              </a:spcAft>
              <a:defRPr sz="1500" b="1">
                <a:solidFill>
                  <a:srgbClr val="1F2937"/>
                </a:solidFill>
                <a:latin typeface="Georgia"/>
              </a:defRPr>
            </a:pPr>
            <a:r>
              <a:rPr dirty="0"/>
              <a:t>Reduce Energy Use &amp; Operational Cost</a:t>
            </a:r>
          </a:p>
          <a:p>
            <a:pPr>
              <a:defRPr sz="1100">
                <a:solidFill>
                  <a:srgbClr val="4B5563"/>
                </a:solidFill>
                <a:latin typeface="Arial"/>
              </a:defRPr>
            </a:pPr>
            <a:r>
              <a:rPr dirty="0"/>
              <a:t>Develop control strategies that substantially reduce building electricity consumption and costs. By dynamically reacting to time-of-use prices, the model learns when to store energy or shift loads to low-tariff periods, achieving highly efficient demand response.</a:t>
            </a:r>
          </a:p>
        </p:txBody>
      </p:sp>
      <p:sp>
        <p:nvSpPr>
          <p:cNvPr id="11" name="Rectangle 10">
            <a:extLst>
              <a:ext uri="{FF2B5EF4-FFF2-40B4-BE49-F238E27FC236}">
                <a16:creationId xmlns:a16="http://schemas.microsoft.com/office/drawing/2014/main" id="{0B159310-AFFB-9D75-6425-497DA04A8419}"/>
              </a:ext>
            </a:extLst>
          </p:cNvPr>
          <p:cNvSpPr/>
          <p:nvPr/>
        </p:nvSpPr>
        <p:spPr>
          <a:xfrm>
            <a:off x="4404360" y="1371600"/>
            <a:ext cx="3383280" cy="411480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ectangle 11">
            <a:extLst>
              <a:ext uri="{FF2B5EF4-FFF2-40B4-BE49-F238E27FC236}">
                <a16:creationId xmlns:a16="http://schemas.microsoft.com/office/drawing/2014/main" id="{9DFC52ED-56AE-B213-9CA7-8FAA582C9150}"/>
              </a:ext>
            </a:extLst>
          </p:cNvPr>
          <p:cNvSpPr/>
          <p:nvPr/>
        </p:nvSpPr>
        <p:spPr>
          <a:xfrm>
            <a:off x="4404360" y="1371600"/>
            <a:ext cx="3383280" cy="10972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 name="TextBox 10">
            <a:extLst>
              <a:ext uri="{FF2B5EF4-FFF2-40B4-BE49-F238E27FC236}">
                <a16:creationId xmlns:a16="http://schemas.microsoft.com/office/drawing/2014/main" id="{0A21EE91-71F0-0CA6-8EEC-22ED599F72A2}"/>
              </a:ext>
            </a:extLst>
          </p:cNvPr>
          <p:cNvSpPr txBox="1"/>
          <p:nvPr/>
        </p:nvSpPr>
        <p:spPr>
          <a:xfrm>
            <a:off x="4678680" y="1737360"/>
            <a:ext cx="2834640" cy="35661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00" b="1">
                <a:solidFill>
                  <a:srgbClr val="8C939F"/>
                </a:solidFill>
                <a:latin typeface="Arial"/>
              </a:defRPr>
            </a:pPr>
            <a:r>
              <a:t>OBJECTIVE 2</a:t>
            </a:r>
          </a:p>
          <a:p>
            <a:pPr>
              <a:spcAft>
                <a:spcPts val="1400"/>
              </a:spcAft>
              <a:defRPr sz="1500" b="1">
                <a:solidFill>
                  <a:srgbClr val="1F2937"/>
                </a:solidFill>
                <a:latin typeface="Georgia"/>
              </a:defRPr>
            </a:pPr>
            <a:r>
              <a:t>Adapt to Dynamic Conditions</a:t>
            </a:r>
          </a:p>
          <a:p>
            <a:pPr>
              <a:defRPr sz="1100">
                <a:solidFill>
                  <a:srgbClr val="4B5563"/>
                </a:solidFill>
                <a:latin typeface="Arial"/>
              </a:defRPr>
            </a:pPr>
            <a:r>
              <a:t>Ensure the control system exhibits high adaptability to changing building and environmental conditions. The framework must adjust control settings automatically as occupancy patterns fluctuate, weather changes, and electricity rates adjust in real-time.</a:t>
            </a:r>
          </a:p>
        </p:txBody>
      </p:sp>
      <p:sp>
        <p:nvSpPr>
          <p:cNvPr id="14" name="Rectangle 13">
            <a:extLst>
              <a:ext uri="{FF2B5EF4-FFF2-40B4-BE49-F238E27FC236}">
                <a16:creationId xmlns:a16="http://schemas.microsoft.com/office/drawing/2014/main" id="{F0161FFF-7422-8D48-EFCE-5F818A6C4D2D}"/>
              </a:ext>
            </a:extLst>
          </p:cNvPr>
          <p:cNvSpPr/>
          <p:nvPr/>
        </p:nvSpPr>
        <p:spPr>
          <a:xfrm>
            <a:off x="8153400" y="1371600"/>
            <a:ext cx="3383280" cy="411480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5" name="Rectangle 14">
            <a:extLst>
              <a:ext uri="{FF2B5EF4-FFF2-40B4-BE49-F238E27FC236}">
                <a16:creationId xmlns:a16="http://schemas.microsoft.com/office/drawing/2014/main" id="{8CDACFDE-7020-4616-AB29-DC378F9ACFB9}"/>
              </a:ext>
            </a:extLst>
          </p:cNvPr>
          <p:cNvSpPr/>
          <p:nvPr/>
        </p:nvSpPr>
        <p:spPr>
          <a:xfrm>
            <a:off x="8153400" y="1371600"/>
            <a:ext cx="3383280" cy="10972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TextBox 13">
            <a:extLst>
              <a:ext uri="{FF2B5EF4-FFF2-40B4-BE49-F238E27FC236}">
                <a16:creationId xmlns:a16="http://schemas.microsoft.com/office/drawing/2014/main" id="{1AFEA544-D79F-2FC1-7101-20335BC8080E}"/>
              </a:ext>
            </a:extLst>
          </p:cNvPr>
          <p:cNvSpPr txBox="1"/>
          <p:nvPr/>
        </p:nvSpPr>
        <p:spPr>
          <a:xfrm>
            <a:off x="8427720" y="1737360"/>
            <a:ext cx="2834640" cy="35661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00" b="1">
                <a:solidFill>
                  <a:srgbClr val="8C939F"/>
                </a:solidFill>
                <a:latin typeface="Arial"/>
              </a:defRPr>
            </a:pPr>
            <a:r>
              <a:t>OBJECTIVE 3</a:t>
            </a:r>
          </a:p>
          <a:p>
            <a:pPr>
              <a:spcAft>
                <a:spcPts val="1400"/>
              </a:spcAft>
              <a:defRPr sz="1500" b="1">
                <a:solidFill>
                  <a:srgbClr val="1F2937"/>
                </a:solidFill>
                <a:latin typeface="Georgia"/>
              </a:defRPr>
            </a:pPr>
            <a:r>
              <a:t>Optimize Occupant Comfort</a:t>
            </a:r>
          </a:p>
          <a:p>
            <a:pPr>
              <a:defRPr sz="1100">
                <a:solidFill>
                  <a:srgbClr val="4B5563"/>
                </a:solidFill>
                <a:latin typeface="Arial"/>
              </a:defRPr>
            </a:pPr>
            <a:r>
              <a:t>Ensure a seamless trade-off between energy conservation and thermal comfort. The system aims to keep average indoor temperature deviations and cumulative comfort violations below acceptable thresholds, preventing extreme indoor fluctuations.</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5FCBA-B816-0F48-EF14-2F7E5FA424FF}"/>
              </a:ext>
            </a:extLst>
          </p:cNvPr>
          <p:cNvSpPr>
            <a:spLocks noGrp="1"/>
          </p:cNvSpPr>
          <p:nvPr>
            <p:ph type="title"/>
          </p:nvPr>
        </p:nvSpPr>
        <p:spPr>
          <a:xfrm flipV="1">
            <a:off x="3362633" y="1209367"/>
            <a:ext cx="9901084" cy="1170037"/>
          </a:xfrm>
        </p:spPr>
        <p:txBody>
          <a:bodyPr>
            <a:normAutofit fontScale="90000"/>
          </a:bodyPr>
          <a:lstStyle/>
          <a:p>
            <a:r>
              <a:rPr lang="en-IN" dirty="0"/>
              <a:t> </a:t>
            </a:r>
            <a:br>
              <a:rPr lang="en-IN" dirty="0"/>
            </a:br>
            <a:endParaRPr lang="en-IN" dirty="0"/>
          </a:p>
        </p:txBody>
      </p:sp>
      <p:sp>
        <p:nvSpPr>
          <p:cNvPr id="3" name="Content Placeholder 2">
            <a:extLst>
              <a:ext uri="{FF2B5EF4-FFF2-40B4-BE49-F238E27FC236}">
                <a16:creationId xmlns:a16="http://schemas.microsoft.com/office/drawing/2014/main" id="{F07964AD-3E12-DECC-DCFB-229BC56EA9C1}"/>
              </a:ext>
            </a:extLst>
          </p:cNvPr>
          <p:cNvSpPr>
            <a:spLocks noGrp="1"/>
          </p:cNvSpPr>
          <p:nvPr>
            <p:ph idx="1"/>
          </p:nvPr>
        </p:nvSpPr>
        <p:spPr>
          <a:xfrm flipV="1">
            <a:off x="12781934" y="6356349"/>
            <a:ext cx="1307691" cy="136525"/>
          </a:xfrm>
        </p:spPr>
        <p:txBody>
          <a:bodyPr>
            <a:normAutofit fontScale="25000" lnSpcReduction="20000"/>
          </a:bodyPr>
          <a:lstStyle/>
          <a:p>
            <a:endParaRPr lang="en-IN" dirty="0"/>
          </a:p>
        </p:txBody>
      </p:sp>
      <p:sp>
        <p:nvSpPr>
          <p:cNvPr id="4" name="Date Placeholder 3">
            <a:extLst>
              <a:ext uri="{FF2B5EF4-FFF2-40B4-BE49-F238E27FC236}">
                <a16:creationId xmlns:a16="http://schemas.microsoft.com/office/drawing/2014/main" id="{E01FB7ED-B468-D764-DA50-1BE37EEC4CF9}"/>
              </a:ext>
            </a:extLst>
          </p:cNvPr>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a:extLst>
              <a:ext uri="{FF2B5EF4-FFF2-40B4-BE49-F238E27FC236}">
                <a16:creationId xmlns:a16="http://schemas.microsoft.com/office/drawing/2014/main" id="{54FCD7DA-BC32-BE7D-AF92-B512D68E5711}"/>
              </a:ext>
            </a:extLst>
          </p:cNvPr>
          <p:cNvSpPr>
            <a:spLocks noGrp="1"/>
          </p:cNvSpPr>
          <p:nvPr>
            <p:ph type="ftr" sz="quarter" idx="11"/>
          </p:nvPr>
        </p:nvSpPr>
        <p:spPr/>
        <p:txBody>
          <a:bodyPr/>
          <a:lstStyle/>
          <a:p>
            <a:r>
              <a:rPr lang="en-US" dirty="0"/>
              <a:t>REVIEW – 1 / 2 / 3    173030211    Department of CSE</a:t>
            </a:r>
          </a:p>
        </p:txBody>
      </p:sp>
      <p:sp>
        <p:nvSpPr>
          <p:cNvPr id="6" name="Slide Number Placeholder 5">
            <a:extLst>
              <a:ext uri="{FF2B5EF4-FFF2-40B4-BE49-F238E27FC236}">
                <a16:creationId xmlns:a16="http://schemas.microsoft.com/office/drawing/2014/main" id="{84FD1DD5-0245-E574-0B2D-0AAAAB6B7A33}"/>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8" name="TextBox 7">
            <a:extLst>
              <a:ext uri="{FF2B5EF4-FFF2-40B4-BE49-F238E27FC236}">
                <a16:creationId xmlns:a16="http://schemas.microsoft.com/office/drawing/2014/main" id="{13CC955F-B62D-3466-3D90-7C7FB06D08A7}"/>
              </a:ext>
            </a:extLst>
          </p:cNvPr>
          <p:cNvSpPr txBox="1"/>
          <p:nvPr/>
        </p:nvSpPr>
        <p:spPr>
          <a:xfrm>
            <a:off x="2209800" y="136525"/>
            <a:ext cx="7054644" cy="461665"/>
          </a:xfrm>
          <a:prstGeom prst="rect">
            <a:avLst/>
          </a:prstGeom>
          <a:noFill/>
        </p:spPr>
        <p:txBody>
          <a:bodyPr wrap="square">
            <a:spAutoFit/>
          </a:bodyPr>
          <a:lstStyle/>
          <a:p>
            <a:pPr>
              <a:defRPr sz="2400" b="1">
                <a:solidFill>
                  <a:srgbClr val="9E0B11"/>
                </a:solidFill>
                <a:latin typeface="Georgia"/>
              </a:defRPr>
            </a:pPr>
            <a:r>
              <a:rPr lang="en-IN" sz="2400" dirty="0"/>
              <a:t>LITERATURE SURVEY</a:t>
            </a:r>
          </a:p>
        </p:txBody>
      </p:sp>
      <p:sp>
        <p:nvSpPr>
          <p:cNvPr id="9" name="TextBox 5">
            <a:extLst>
              <a:ext uri="{FF2B5EF4-FFF2-40B4-BE49-F238E27FC236}">
                <a16:creationId xmlns:a16="http://schemas.microsoft.com/office/drawing/2014/main" id="{82D7B472-7158-0A5D-EB5A-727F9BB97970}"/>
              </a:ext>
            </a:extLst>
          </p:cNvPr>
          <p:cNvSpPr txBox="1"/>
          <p:nvPr/>
        </p:nvSpPr>
        <p:spPr>
          <a:xfrm>
            <a:off x="1817154" y="689240"/>
            <a:ext cx="11094415" cy="54864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00" b="1">
                <a:solidFill>
                  <a:srgbClr val="4B5563"/>
                </a:solidFill>
                <a:latin typeface="Arial"/>
              </a:defRPr>
            </a:pPr>
            <a:r>
              <a:rPr dirty="0"/>
              <a:t>Survey of existing simulation frameworks and standard public datasets utilized for RL smart building research:</a:t>
            </a:r>
          </a:p>
        </p:txBody>
      </p:sp>
      <p:pic>
        <p:nvPicPr>
          <p:cNvPr id="11" name="table">
            <a:extLst>
              <a:ext uri="{FF2B5EF4-FFF2-40B4-BE49-F238E27FC236}">
                <a16:creationId xmlns:a16="http://schemas.microsoft.com/office/drawing/2014/main" id="{93485241-081E-8139-E9DE-4A9F1A568F6C}"/>
              </a:ext>
            </a:extLst>
          </p:cNvPr>
          <p:cNvPicPr>
            <a:picLocks noChangeAspect="1"/>
          </p:cNvPicPr>
          <p:nvPr/>
        </p:nvPicPr>
        <p:blipFill>
          <a:blip r:embed="rId2"/>
          <a:stretch>
            <a:fillRect/>
          </a:stretch>
        </p:blipFill>
        <p:spPr>
          <a:xfrm>
            <a:off x="548792" y="1463040"/>
            <a:ext cx="11094415" cy="3931920"/>
          </a:xfrm>
          <a:prstGeom prst="rect">
            <a:avLst/>
          </a:prstGeom>
        </p:spPr>
      </p:pic>
    </p:spTree>
    <p:extLst>
      <p:ext uri="{BB962C8B-B14F-4D97-AF65-F5344CB8AC3E}">
        <p14:creationId xmlns:p14="http://schemas.microsoft.com/office/powerpoint/2010/main" val="608356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68B2-7BCC-338D-3B4E-B86D1710BB93}"/>
              </a:ext>
            </a:extLst>
          </p:cNvPr>
          <p:cNvSpPr>
            <a:spLocks noGrp="1"/>
          </p:cNvSpPr>
          <p:nvPr>
            <p:ph type="title"/>
          </p:nvPr>
        </p:nvSpPr>
        <p:spPr/>
        <p:txBody>
          <a:bodyPr/>
          <a:lstStyle/>
          <a:p>
            <a:r>
              <a:rPr lang="en-IN" dirty="0"/>
              <a:t>  </a:t>
            </a:r>
            <a:br>
              <a:rPr lang="en-IN" dirty="0"/>
            </a:br>
            <a:endParaRPr lang="en-IN" dirty="0"/>
          </a:p>
        </p:txBody>
      </p:sp>
      <p:sp>
        <p:nvSpPr>
          <p:cNvPr id="3" name="Content Placeholder 2">
            <a:extLst>
              <a:ext uri="{FF2B5EF4-FFF2-40B4-BE49-F238E27FC236}">
                <a16:creationId xmlns:a16="http://schemas.microsoft.com/office/drawing/2014/main" id="{85CE5E3E-9F52-26DA-3491-E58663894AC6}"/>
              </a:ext>
            </a:extLst>
          </p:cNvPr>
          <p:cNvSpPr>
            <a:spLocks noGrp="1"/>
          </p:cNvSpPr>
          <p:nvPr>
            <p:ph idx="1"/>
          </p:nvPr>
        </p:nvSpPr>
        <p:spPr>
          <a:xfrm flipH="1" flipV="1">
            <a:off x="11353799" y="6176962"/>
            <a:ext cx="2743199" cy="1325563"/>
          </a:xfrm>
        </p:spPr>
        <p:txBody>
          <a:bodyPr/>
          <a:lstStyle/>
          <a:p>
            <a:r>
              <a:rPr lang="en-IN" dirty="0"/>
              <a:t>  </a:t>
            </a:r>
          </a:p>
          <a:p>
            <a:endParaRPr lang="en-IN" dirty="0"/>
          </a:p>
        </p:txBody>
      </p:sp>
      <p:sp>
        <p:nvSpPr>
          <p:cNvPr id="4" name="Date Placeholder 3">
            <a:extLst>
              <a:ext uri="{FF2B5EF4-FFF2-40B4-BE49-F238E27FC236}">
                <a16:creationId xmlns:a16="http://schemas.microsoft.com/office/drawing/2014/main" id="{644CE6ED-FA00-63FC-345E-D5A80EFCCDE7}"/>
              </a:ext>
            </a:extLst>
          </p:cNvPr>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a:extLst>
              <a:ext uri="{FF2B5EF4-FFF2-40B4-BE49-F238E27FC236}">
                <a16:creationId xmlns:a16="http://schemas.microsoft.com/office/drawing/2014/main" id="{309E57D4-47CF-08E8-78B8-DD16F82DBA7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3D310550-3BB2-E1EA-774A-71B5018E2DE3}"/>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8" name="TextBox 7">
            <a:extLst>
              <a:ext uri="{FF2B5EF4-FFF2-40B4-BE49-F238E27FC236}">
                <a16:creationId xmlns:a16="http://schemas.microsoft.com/office/drawing/2014/main" id="{1DBA282C-C9FF-357A-64F8-BF0571F2D40A}"/>
              </a:ext>
            </a:extLst>
          </p:cNvPr>
          <p:cNvSpPr txBox="1"/>
          <p:nvPr/>
        </p:nvSpPr>
        <p:spPr>
          <a:xfrm>
            <a:off x="2209800" y="134292"/>
            <a:ext cx="7103806" cy="461665"/>
          </a:xfrm>
          <a:prstGeom prst="rect">
            <a:avLst/>
          </a:prstGeom>
          <a:noFill/>
        </p:spPr>
        <p:txBody>
          <a:bodyPr wrap="square">
            <a:spAutoFit/>
          </a:bodyPr>
          <a:lstStyle/>
          <a:p>
            <a:pPr>
              <a:defRPr sz="2400" b="1">
                <a:solidFill>
                  <a:srgbClr val="9E0B11"/>
                </a:solidFill>
                <a:latin typeface="Georgia"/>
              </a:defRPr>
            </a:pPr>
            <a:r>
              <a:rPr lang="en-IN" sz="2400" dirty="0"/>
              <a:t>PROPOSED METHOD</a:t>
            </a:r>
          </a:p>
        </p:txBody>
      </p:sp>
      <p:sp>
        <p:nvSpPr>
          <p:cNvPr id="9" name="TextBox 5">
            <a:extLst>
              <a:ext uri="{FF2B5EF4-FFF2-40B4-BE49-F238E27FC236}">
                <a16:creationId xmlns:a16="http://schemas.microsoft.com/office/drawing/2014/main" id="{B252DE80-8801-4FDB-C963-373D01F0D7B6}"/>
              </a:ext>
            </a:extLst>
          </p:cNvPr>
          <p:cNvSpPr txBox="1"/>
          <p:nvPr/>
        </p:nvSpPr>
        <p:spPr>
          <a:xfrm>
            <a:off x="259384" y="959168"/>
            <a:ext cx="11094415" cy="7315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100" b="1">
                <a:solidFill>
                  <a:srgbClr val="9E0B11"/>
                </a:solidFill>
                <a:latin typeface="Arial"/>
              </a:defRPr>
            </a:pPr>
            <a:r>
              <a:t>REINFORCEMENT LEARNING FRAMEWORK</a:t>
            </a:r>
          </a:p>
          <a:p>
            <a:pPr>
              <a:defRPr sz="1150">
                <a:solidFill>
                  <a:srgbClr val="4B5563"/>
                </a:solidFill>
                <a:latin typeface="Arial"/>
              </a:defRPr>
            </a:pPr>
            <a:r>
              <a:t>In this architecture, the building acts as the Environment, conditions define the State, and control decisions represent Actions.</a:t>
            </a:r>
          </a:p>
        </p:txBody>
      </p:sp>
      <p:sp>
        <p:nvSpPr>
          <p:cNvPr id="10" name="Rectangle 9">
            <a:extLst>
              <a:ext uri="{FF2B5EF4-FFF2-40B4-BE49-F238E27FC236}">
                <a16:creationId xmlns:a16="http://schemas.microsoft.com/office/drawing/2014/main" id="{D648607D-9A65-679A-0BB8-F91BD3EC42EF}"/>
              </a:ext>
            </a:extLst>
          </p:cNvPr>
          <p:cNvSpPr/>
          <p:nvPr/>
        </p:nvSpPr>
        <p:spPr>
          <a:xfrm>
            <a:off x="563880" y="1874520"/>
            <a:ext cx="1920240" cy="310896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 name="Oval 10">
            <a:extLst>
              <a:ext uri="{FF2B5EF4-FFF2-40B4-BE49-F238E27FC236}">
                <a16:creationId xmlns:a16="http://schemas.microsoft.com/office/drawing/2014/main" id="{936A25AC-A89B-3A84-CFD3-F105B651F9D2}"/>
              </a:ext>
            </a:extLst>
          </p:cNvPr>
          <p:cNvSpPr/>
          <p:nvPr/>
        </p:nvSpPr>
        <p:spPr>
          <a:xfrm>
            <a:off x="746760" y="2057400"/>
            <a:ext cx="365760" cy="365760"/>
          </a:xfrm>
          <a:prstGeom prst="ellipse">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latin typeface="Arial"/>
              </a:defRPr>
            </a:pPr>
            <a:r>
              <a:t>1</a:t>
            </a:r>
          </a:p>
        </p:txBody>
      </p:sp>
      <p:sp>
        <p:nvSpPr>
          <p:cNvPr id="12" name="TextBox 8">
            <a:extLst>
              <a:ext uri="{FF2B5EF4-FFF2-40B4-BE49-F238E27FC236}">
                <a16:creationId xmlns:a16="http://schemas.microsoft.com/office/drawing/2014/main" id="{099945AD-4329-94C6-C376-18F789E1CE01}"/>
              </a:ext>
            </a:extLst>
          </p:cNvPr>
          <p:cNvSpPr txBox="1"/>
          <p:nvPr/>
        </p:nvSpPr>
        <p:spPr>
          <a:xfrm>
            <a:off x="746760" y="2606040"/>
            <a:ext cx="1554480" cy="228600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50" b="1">
                <a:solidFill>
                  <a:srgbClr val="1F2937"/>
                </a:solidFill>
                <a:latin typeface="Arial"/>
              </a:defRPr>
            </a:pPr>
            <a:r>
              <a:t>1. INGEST &amp; PREPROCESS</a:t>
            </a:r>
          </a:p>
          <a:p>
            <a:pPr>
              <a:defRPr sz="1050">
                <a:solidFill>
                  <a:srgbClr val="4B5563"/>
                </a:solidFill>
                <a:latin typeface="Arial"/>
              </a:defRPr>
            </a:pPr>
            <a:r>
              <a:t>Building Energy Data</a:t>
            </a:r>
            <a:br/>
            <a:br/>
            <a:r>
              <a:t>Cleans and features raw meter readings, climate files, and dynamic occupancy logs.</a:t>
            </a:r>
          </a:p>
        </p:txBody>
      </p:sp>
      <p:sp>
        <p:nvSpPr>
          <p:cNvPr id="13" name="Right Arrow 9">
            <a:extLst>
              <a:ext uri="{FF2B5EF4-FFF2-40B4-BE49-F238E27FC236}">
                <a16:creationId xmlns:a16="http://schemas.microsoft.com/office/drawing/2014/main" id="{FBA84F8C-4B57-69A1-F09F-53CF4515D3C8}"/>
              </a:ext>
            </a:extLst>
          </p:cNvPr>
          <p:cNvSpPr/>
          <p:nvPr/>
        </p:nvSpPr>
        <p:spPr>
          <a:xfrm>
            <a:off x="2529840" y="3291840"/>
            <a:ext cx="27432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Rectangle 13">
            <a:extLst>
              <a:ext uri="{FF2B5EF4-FFF2-40B4-BE49-F238E27FC236}">
                <a16:creationId xmlns:a16="http://schemas.microsoft.com/office/drawing/2014/main" id="{306FF6D2-47B3-499C-7225-AF6ACD30EE67}"/>
              </a:ext>
            </a:extLst>
          </p:cNvPr>
          <p:cNvSpPr/>
          <p:nvPr/>
        </p:nvSpPr>
        <p:spPr>
          <a:xfrm>
            <a:off x="2849880" y="1874520"/>
            <a:ext cx="1920240" cy="310896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5" name="Oval 14">
            <a:extLst>
              <a:ext uri="{FF2B5EF4-FFF2-40B4-BE49-F238E27FC236}">
                <a16:creationId xmlns:a16="http://schemas.microsoft.com/office/drawing/2014/main" id="{1F540C37-F10F-74CB-FE2A-2FA5C2299994}"/>
              </a:ext>
            </a:extLst>
          </p:cNvPr>
          <p:cNvSpPr/>
          <p:nvPr/>
        </p:nvSpPr>
        <p:spPr>
          <a:xfrm>
            <a:off x="3032760" y="2057400"/>
            <a:ext cx="365760" cy="365760"/>
          </a:xfrm>
          <a:prstGeom prst="ellipse">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latin typeface="Arial"/>
              </a:defRPr>
            </a:pPr>
            <a:r>
              <a:t>2</a:t>
            </a:r>
          </a:p>
        </p:txBody>
      </p:sp>
      <p:sp>
        <p:nvSpPr>
          <p:cNvPr id="16" name="TextBox 12">
            <a:extLst>
              <a:ext uri="{FF2B5EF4-FFF2-40B4-BE49-F238E27FC236}">
                <a16:creationId xmlns:a16="http://schemas.microsoft.com/office/drawing/2014/main" id="{2D8EB9A8-5437-D734-90BE-C3E5888FBA6C}"/>
              </a:ext>
            </a:extLst>
          </p:cNvPr>
          <p:cNvSpPr txBox="1"/>
          <p:nvPr/>
        </p:nvSpPr>
        <p:spPr>
          <a:xfrm>
            <a:off x="2964180" y="2653030"/>
            <a:ext cx="1554480" cy="228600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50" b="1">
                <a:solidFill>
                  <a:srgbClr val="1F2937"/>
                </a:solidFill>
                <a:latin typeface="Arial"/>
              </a:defRPr>
            </a:pPr>
            <a:r>
              <a:t>2. STATE REPRESENTATION</a:t>
            </a:r>
          </a:p>
          <a:p>
            <a:pPr>
              <a:defRPr sz="1050">
                <a:solidFill>
                  <a:srgbClr val="4B5563"/>
                </a:solidFill>
                <a:latin typeface="Arial"/>
              </a:defRPr>
            </a:pPr>
            <a:r>
              <a:t>Environment</a:t>
            </a:r>
            <a:br/>
            <a:br/>
            <a:r>
              <a:t>Encodes indoor temp, occupant comfort levels, weather, and current utility tariffs.</a:t>
            </a:r>
          </a:p>
        </p:txBody>
      </p:sp>
      <p:sp>
        <p:nvSpPr>
          <p:cNvPr id="17" name="Right Arrow 13">
            <a:extLst>
              <a:ext uri="{FF2B5EF4-FFF2-40B4-BE49-F238E27FC236}">
                <a16:creationId xmlns:a16="http://schemas.microsoft.com/office/drawing/2014/main" id="{DA1971CB-8DA9-1493-6298-624837AF4A04}"/>
              </a:ext>
            </a:extLst>
          </p:cNvPr>
          <p:cNvSpPr/>
          <p:nvPr/>
        </p:nvSpPr>
        <p:spPr>
          <a:xfrm>
            <a:off x="4815840" y="3291840"/>
            <a:ext cx="27432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8" name="Rectangle 17">
            <a:extLst>
              <a:ext uri="{FF2B5EF4-FFF2-40B4-BE49-F238E27FC236}">
                <a16:creationId xmlns:a16="http://schemas.microsoft.com/office/drawing/2014/main" id="{C735AFF1-CE53-77F0-EA6F-1D062B19D7D8}"/>
              </a:ext>
            </a:extLst>
          </p:cNvPr>
          <p:cNvSpPr/>
          <p:nvPr/>
        </p:nvSpPr>
        <p:spPr>
          <a:xfrm>
            <a:off x="5135880" y="1874520"/>
            <a:ext cx="1920240" cy="310896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9" name="Oval 18">
            <a:extLst>
              <a:ext uri="{FF2B5EF4-FFF2-40B4-BE49-F238E27FC236}">
                <a16:creationId xmlns:a16="http://schemas.microsoft.com/office/drawing/2014/main" id="{8EEBD669-C440-87C8-C53D-F6AA4A09173E}"/>
              </a:ext>
            </a:extLst>
          </p:cNvPr>
          <p:cNvSpPr/>
          <p:nvPr/>
        </p:nvSpPr>
        <p:spPr>
          <a:xfrm>
            <a:off x="5318760" y="2057400"/>
            <a:ext cx="365760" cy="365760"/>
          </a:xfrm>
          <a:prstGeom prst="ellipse">
            <a:avLst/>
          </a:prstGeom>
          <a:solidFill>
            <a:srgbClr val="9E0B1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latin typeface="Arial"/>
              </a:defRPr>
            </a:pPr>
            <a:r>
              <a:t>3</a:t>
            </a:r>
          </a:p>
        </p:txBody>
      </p:sp>
      <p:sp>
        <p:nvSpPr>
          <p:cNvPr id="20" name="TextBox 16">
            <a:extLst>
              <a:ext uri="{FF2B5EF4-FFF2-40B4-BE49-F238E27FC236}">
                <a16:creationId xmlns:a16="http://schemas.microsoft.com/office/drawing/2014/main" id="{4D6FDB30-F9DA-9C23-F77E-599DCC069C9E}"/>
              </a:ext>
            </a:extLst>
          </p:cNvPr>
          <p:cNvSpPr txBox="1"/>
          <p:nvPr/>
        </p:nvSpPr>
        <p:spPr>
          <a:xfrm>
            <a:off x="5318760" y="2606040"/>
            <a:ext cx="1554480" cy="228600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50" b="1">
                <a:solidFill>
                  <a:srgbClr val="1F2937"/>
                </a:solidFill>
                <a:latin typeface="Arial"/>
              </a:defRPr>
            </a:pPr>
            <a:r>
              <a:t>3. AGENT DECISION</a:t>
            </a:r>
          </a:p>
          <a:p>
            <a:pPr>
              <a:defRPr sz="1050">
                <a:solidFill>
                  <a:srgbClr val="4B5563"/>
                </a:solidFill>
                <a:latin typeface="Arial"/>
              </a:defRPr>
            </a:pPr>
            <a:r>
              <a:t>DQN / PPO / DDPG</a:t>
            </a:r>
            <a:br/>
            <a:br/>
            <a:r>
              <a:t>RL policy processes state to select the most efficient control actions.</a:t>
            </a:r>
          </a:p>
        </p:txBody>
      </p:sp>
      <p:sp>
        <p:nvSpPr>
          <p:cNvPr id="21" name="Right Arrow 17">
            <a:extLst>
              <a:ext uri="{FF2B5EF4-FFF2-40B4-BE49-F238E27FC236}">
                <a16:creationId xmlns:a16="http://schemas.microsoft.com/office/drawing/2014/main" id="{109464AD-6223-A8AF-C33D-A93BBF752216}"/>
              </a:ext>
            </a:extLst>
          </p:cNvPr>
          <p:cNvSpPr/>
          <p:nvPr/>
        </p:nvSpPr>
        <p:spPr>
          <a:xfrm>
            <a:off x="7101840" y="3291840"/>
            <a:ext cx="27432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 name="Rectangle 21">
            <a:extLst>
              <a:ext uri="{FF2B5EF4-FFF2-40B4-BE49-F238E27FC236}">
                <a16:creationId xmlns:a16="http://schemas.microsoft.com/office/drawing/2014/main" id="{D8A46C67-84E9-219E-F14F-FF372C48B4E1}"/>
              </a:ext>
            </a:extLst>
          </p:cNvPr>
          <p:cNvSpPr/>
          <p:nvPr/>
        </p:nvSpPr>
        <p:spPr>
          <a:xfrm>
            <a:off x="7421880" y="1874520"/>
            <a:ext cx="1920240" cy="310896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Oval 22">
            <a:extLst>
              <a:ext uri="{FF2B5EF4-FFF2-40B4-BE49-F238E27FC236}">
                <a16:creationId xmlns:a16="http://schemas.microsoft.com/office/drawing/2014/main" id="{28F988E4-3218-9ED5-12F7-CF8D0D35FDDE}"/>
              </a:ext>
            </a:extLst>
          </p:cNvPr>
          <p:cNvSpPr/>
          <p:nvPr/>
        </p:nvSpPr>
        <p:spPr>
          <a:xfrm>
            <a:off x="7604760" y="2057400"/>
            <a:ext cx="365760" cy="365760"/>
          </a:xfrm>
          <a:prstGeom prst="ellipse">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latin typeface="Arial"/>
              </a:defRPr>
            </a:pPr>
            <a:r>
              <a:t>4</a:t>
            </a:r>
          </a:p>
        </p:txBody>
      </p:sp>
      <p:sp>
        <p:nvSpPr>
          <p:cNvPr id="24" name="TextBox 20">
            <a:extLst>
              <a:ext uri="{FF2B5EF4-FFF2-40B4-BE49-F238E27FC236}">
                <a16:creationId xmlns:a16="http://schemas.microsoft.com/office/drawing/2014/main" id="{FF179E0F-0275-9CD3-1088-B6A8D93BC79D}"/>
              </a:ext>
            </a:extLst>
          </p:cNvPr>
          <p:cNvSpPr txBox="1"/>
          <p:nvPr/>
        </p:nvSpPr>
        <p:spPr>
          <a:xfrm>
            <a:off x="7604760" y="2606040"/>
            <a:ext cx="1554480" cy="228600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50" b="1">
                <a:solidFill>
                  <a:srgbClr val="1F2937"/>
                </a:solidFill>
                <a:latin typeface="Arial"/>
              </a:defRPr>
            </a:pPr>
            <a:r>
              <a:t>4. CONTROL ACTIONS</a:t>
            </a:r>
          </a:p>
          <a:p>
            <a:pPr>
              <a:defRPr sz="1050">
                <a:solidFill>
                  <a:srgbClr val="4B5563"/>
                </a:solidFill>
                <a:latin typeface="Arial"/>
              </a:defRPr>
            </a:pPr>
            <a:r>
              <a:t>HVAC / Storage / Lights</a:t>
            </a:r>
            <a:br/>
            <a:br/>
            <a:r>
              <a:t>Executes HVAC thermostat shifts, light dimming, and battery charge cycles.</a:t>
            </a:r>
          </a:p>
        </p:txBody>
      </p:sp>
      <p:sp>
        <p:nvSpPr>
          <p:cNvPr id="25" name="Right Arrow 21">
            <a:extLst>
              <a:ext uri="{FF2B5EF4-FFF2-40B4-BE49-F238E27FC236}">
                <a16:creationId xmlns:a16="http://schemas.microsoft.com/office/drawing/2014/main" id="{CFE65EE6-FF26-224E-D88D-051BFCAAD0E9}"/>
              </a:ext>
            </a:extLst>
          </p:cNvPr>
          <p:cNvSpPr/>
          <p:nvPr/>
        </p:nvSpPr>
        <p:spPr>
          <a:xfrm>
            <a:off x="9387840" y="3291840"/>
            <a:ext cx="274320" cy="274320"/>
          </a:xfrm>
          <a:prstGeom prst="rightArrow">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C537F168-E9E4-9389-4910-843F226907E3}"/>
              </a:ext>
            </a:extLst>
          </p:cNvPr>
          <p:cNvSpPr/>
          <p:nvPr/>
        </p:nvSpPr>
        <p:spPr>
          <a:xfrm>
            <a:off x="9707880" y="1874520"/>
            <a:ext cx="1920240" cy="3108960"/>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7" name="Oval 26">
            <a:extLst>
              <a:ext uri="{FF2B5EF4-FFF2-40B4-BE49-F238E27FC236}">
                <a16:creationId xmlns:a16="http://schemas.microsoft.com/office/drawing/2014/main" id="{1CDC34A0-51A2-CA91-5B23-BBBE4638A74C}"/>
              </a:ext>
            </a:extLst>
          </p:cNvPr>
          <p:cNvSpPr/>
          <p:nvPr/>
        </p:nvSpPr>
        <p:spPr>
          <a:xfrm>
            <a:off x="9890760" y="2057400"/>
            <a:ext cx="365760" cy="365760"/>
          </a:xfrm>
          <a:prstGeom prst="ellipse">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latin typeface="Arial"/>
              </a:defRPr>
            </a:pPr>
            <a:r>
              <a:t>5</a:t>
            </a:r>
          </a:p>
        </p:txBody>
      </p:sp>
      <p:sp>
        <p:nvSpPr>
          <p:cNvPr id="28" name="TextBox 24">
            <a:extLst>
              <a:ext uri="{FF2B5EF4-FFF2-40B4-BE49-F238E27FC236}">
                <a16:creationId xmlns:a16="http://schemas.microsoft.com/office/drawing/2014/main" id="{74192931-B20E-0950-010F-F7D3222FC211}"/>
              </a:ext>
            </a:extLst>
          </p:cNvPr>
          <p:cNvSpPr txBox="1"/>
          <p:nvPr/>
        </p:nvSpPr>
        <p:spPr>
          <a:xfrm>
            <a:off x="9890760" y="2606040"/>
            <a:ext cx="1554480" cy="228600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800"/>
              </a:spcAft>
              <a:defRPr sz="1150" b="1">
                <a:solidFill>
                  <a:srgbClr val="1F2937"/>
                </a:solidFill>
                <a:latin typeface="Arial"/>
              </a:defRPr>
            </a:pPr>
            <a:r>
              <a:t>5. REWARD FEEDBACK</a:t>
            </a:r>
          </a:p>
          <a:p>
            <a:pPr>
              <a:defRPr sz="1050">
                <a:solidFill>
                  <a:srgbClr val="4B5563"/>
                </a:solidFill>
                <a:latin typeface="Arial"/>
              </a:defRPr>
            </a:pPr>
            <a:r>
              <a:t>Multi-Objective Reward</a:t>
            </a:r>
            <a:br/>
            <a:br/>
            <a:r>
              <a:t>Balances total energy saved against comfort violations as positive reinforcement.</a:t>
            </a:r>
          </a:p>
        </p:txBody>
      </p:sp>
    </p:spTree>
    <p:extLst>
      <p:ext uri="{BB962C8B-B14F-4D97-AF65-F5344CB8AC3E}">
        <p14:creationId xmlns:p14="http://schemas.microsoft.com/office/powerpoint/2010/main" val="332666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9F24-AE46-89B3-A3DE-48EB9E171012}"/>
              </a:ext>
            </a:extLst>
          </p:cNvPr>
          <p:cNvSpPr>
            <a:spLocks noGrp="1"/>
          </p:cNvSpPr>
          <p:nvPr>
            <p:ph type="title"/>
          </p:nvPr>
        </p:nvSpPr>
        <p:spPr/>
        <p:txBody>
          <a:bodyPr/>
          <a:lstStyle/>
          <a:p>
            <a:r>
              <a:rPr lang="en-IN" dirty="0"/>
              <a:t>  </a:t>
            </a:r>
            <a:br>
              <a:rPr lang="en-IN" dirty="0"/>
            </a:br>
            <a:endParaRPr lang="en-IN" dirty="0"/>
          </a:p>
        </p:txBody>
      </p:sp>
      <p:sp>
        <p:nvSpPr>
          <p:cNvPr id="3" name="Content Placeholder 2">
            <a:extLst>
              <a:ext uri="{FF2B5EF4-FFF2-40B4-BE49-F238E27FC236}">
                <a16:creationId xmlns:a16="http://schemas.microsoft.com/office/drawing/2014/main" id="{58FE0082-7EC1-4645-7FA3-3847F579DCDF}"/>
              </a:ext>
            </a:extLst>
          </p:cNvPr>
          <p:cNvSpPr>
            <a:spLocks noGrp="1"/>
          </p:cNvSpPr>
          <p:nvPr>
            <p:ph idx="1"/>
          </p:nvPr>
        </p:nvSpPr>
        <p:spPr>
          <a:xfrm flipH="1" flipV="1">
            <a:off x="11353800" y="6176962"/>
            <a:ext cx="1968910" cy="2121463"/>
          </a:xfrm>
        </p:spPr>
        <p:txBody>
          <a:bodyPr/>
          <a:lstStyle/>
          <a:p>
            <a:r>
              <a:rPr lang="en-IN" dirty="0"/>
              <a:t>  </a:t>
            </a:r>
          </a:p>
          <a:p>
            <a:endParaRPr lang="en-IN" dirty="0"/>
          </a:p>
        </p:txBody>
      </p:sp>
      <p:sp>
        <p:nvSpPr>
          <p:cNvPr id="4" name="Date Placeholder 3">
            <a:extLst>
              <a:ext uri="{FF2B5EF4-FFF2-40B4-BE49-F238E27FC236}">
                <a16:creationId xmlns:a16="http://schemas.microsoft.com/office/drawing/2014/main" id="{A62CEB2B-50C1-DC97-6BD1-DD8FC5040B35}"/>
              </a:ext>
            </a:extLst>
          </p:cNvPr>
          <p:cNvSpPr>
            <a:spLocks noGrp="1"/>
          </p:cNvSpPr>
          <p:nvPr>
            <p:ph type="dt" sz="half" idx="10"/>
          </p:nvPr>
        </p:nvSpPr>
        <p:spPr/>
        <p:txBody>
          <a:bodyPr/>
          <a:lstStyle/>
          <a:p>
            <a:fld id="{C7A4DE8B-8D6B-8C46-B882-6A2CD2BC96F0}" type="datetime1">
              <a:rPr lang="en-IN" smtClean="0"/>
              <a:t>18-08-2026</a:t>
            </a:fld>
            <a:endParaRPr lang="en-US" dirty="0"/>
          </a:p>
        </p:txBody>
      </p:sp>
      <p:sp>
        <p:nvSpPr>
          <p:cNvPr id="5" name="Footer Placeholder 4">
            <a:extLst>
              <a:ext uri="{FF2B5EF4-FFF2-40B4-BE49-F238E27FC236}">
                <a16:creationId xmlns:a16="http://schemas.microsoft.com/office/drawing/2014/main" id="{41AF5EB0-29D2-3AE4-EFDB-864F51D252EE}"/>
              </a:ext>
            </a:extLst>
          </p:cNvPr>
          <p:cNvSpPr>
            <a:spLocks noGrp="1"/>
          </p:cNvSpPr>
          <p:nvPr>
            <p:ph type="ftr" sz="quarter" idx="11"/>
          </p:nvPr>
        </p:nvSpPr>
        <p:spPr/>
        <p:txBody>
          <a:bodyPr/>
          <a:lstStyle/>
          <a:p>
            <a:r>
              <a:rPr lang="en-US" dirty="0"/>
              <a:t>REVIEW – 1 / 2 /  173030211    Department of CSE</a:t>
            </a:r>
          </a:p>
        </p:txBody>
      </p:sp>
      <p:sp>
        <p:nvSpPr>
          <p:cNvPr id="6" name="Slide Number Placeholder 5">
            <a:extLst>
              <a:ext uri="{FF2B5EF4-FFF2-40B4-BE49-F238E27FC236}">
                <a16:creationId xmlns:a16="http://schemas.microsoft.com/office/drawing/2014/main" id="{1323594D-CF5B-C7AB-EAB6-E0A50C215E49}"/>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14" name="TextBox 1">
            <a:extLst>
              <a:ext uri="{FF2B5EF4-FFF2-40B4-BE49-F238E27FC236}">
                <a16:creationId xmlns:a16="http://schemas.microsoft.com/office/drawing/2014/main" id="{BE2AC1D1-574B-E1FC-C40F-D5EB35EE704F}"/>
              </a:ext>
            </a:extLst>
          </p:cNvPr>
          <p:cNvSpPr txBox="1"/>
          <p:nvPr/>
        </p:nvSpPr>
        <p:spPr>
          <a:xfrm>
            <a:off x="1738495" y="136525"/>
            <a:ext cx="11094415" cy="7315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400" b="1">
                <a:solidFill>
                  <a:srgbClr val="9E0B11"/>
                </a:solidFill>
                <a:latin typeface="Georgia"/>
              </a:defRPr>
            </a:pPr>
            <a:r>
              <a:rPr dirty="0"/>
              <a:t>CONCLUSION</a:t>
            </a:r>
          </a:p>
          <a:p>
            <a:pPr>
              <a:spcBef>
                <a:spcPts val="400"/>
              </a:spcBef>
              <a:defRPr sz="1100" b="1">
                <a:solidFill>
                  <a:srgbClr val="8C939F"/>
                </a:solidFill>
                <a:latin typeface="Arial"/>
              </a:defRPr>
            </a:pPr>
            <a:r>
              <a:rPr dirty="0"/>
              <a:t>REVIEW – 1</a:t>
            </a:r>
          </a:p>
        </p:txBody>
      </p:sp>
      <p:sp>
        <p:nvSpPr>
          <p:cNvPr id="15" name="Rectangle 14">
            <a:extLst>
              <a:ext uri="{FF2B5EF4-FFF2-40B4-BE49-F238E27FC236}">
                <a16:creationId xmlns:a16="http://schemas.microsoft.com/office/drawing/2014/main" id="{E6F8DCDE-112F-658D-1FD1-F6EC005EA211}"/>
              </a:ext>
            </a:extLst>
          </p:cNvPr>
          <p:cNvSpPr/>
          <p:nvPr/>
        </p:nvSpPr>
        <p:spPr>
          <a:xfrm>
            <a:off x="548792" y="1051560"/>
            <a:ext cx="11094415" cy="1905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7" name="TextBox 4">
            <a:extLst>
              <a:ext uri="{FF2B5EF4-FFF2-40B4-BE49-F238E27FC236}">
                <a16:creationId xmlns:a16="http://schemas.microsoft.com/office/drawing/2014/main" id="{2B4FC318-9F4B-8426-2F74-E5627A139A0E}"/>
              </a:ext>
            </a:extLst>
          </p:cNvPr>
          <p:cNvSpPr txBox="1"/>
          <p:nvPr/>
        </p:nvSpPr>
        <p:spPr>
          <a:xfrm>
            <a:off x="10728807" y="6263640"/>
            <a:ext cx="914400" cy="36576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1000" b="1">
                <a:solidFill>
                  <a:srgbClr val="9E0B11"/>
                </a:solidFill>
                <a:latin typeface="Arial"/>
              </a:defRPr>
            </a:pPr>
            <a:r>
              <a:t>07</a:t>
            </a:r>
          </a:p>
        </p:txBody>
      </p:sp>
      <p:sp>
        <p:nvSpPr>
          <p:cNvPr id="18" name="TextBox 5">
            <a:extLst>
              <a:ext uri="{FF2B5EF4-FFF2-40B4-BE49-F238E27FC236}">
                <a16:creationId xmlns:a16="http://schemas.microsoft.com/office/drawing/2014/main" id="{7A95C2A4-8691-9AB5-F97D-81D84D020010}"/>
              </a:ext>
            </a:extLst>
          </p:cNvPr>
          <p:cNvSpPr txBox="1"/>
          <p:nvPr/>
        </p:nvSpPr>
        <p:spPr>
          <a:xfrm>
            <a:off x="548792" y="1508760"/>
            <a:ext cx="5303520" cy="43891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400"/>
              </a:spcAft>
              <a:defRPr sz="1150" b="1">
                <a:solidFill>
                  <a:srgbClr val="9E0B11"/>
                </a:solidFill>
                <a:latin typeface="Arial"/>
              </a:defRPr>
            </a:pPr>
            <a:r>
              <a:t>SUMMARY OF EXPECTED OUTCOMES</a:t>
            </a:r>
          </a:p>
          <a:p>
            <a:pPr>
              <a:spcAft>
                <a:spcPts val="1000"/>
              </a:spcAft>
              <a:defRPr sz="1700" b="1">
                <a:solidFill>
                  <a:srgbClr val="1F2937"/>
                </a:solidFill>
                <a:latin typeface="Georgia"/>
              </a:defRPr>
            </a:pPr>
            <a:r>
              <a:t>Providing adaptive &amp; intelligent smart building energy management.</a:t>
            </a:r>
          </a:p>
          <a:p>
            <a:pPr>
              <a:spcAft>
                <a:spcPts val="1600"/>
              </a:spcAft>
              <a:defRPr sz="1200">
                <a:solidFill>
                  <a:srgbClr val="4B5563"/>
                </a:solidFill>
                <a:latin typeface="Arial"/>
              </a:defRPr>
            </a:pPr>
            <a:r>
              <a:t>Our framework dynamically learns from physical building condition states and selects optimal control actions rather than relying on static rule-based templates. The expected outcome is a severe curtailment of building operational overhead while strictly maintaining human thermal comfort standards.</a:t>
            </a:r>
          </a:p>
          <a:p>
            <a:pPr>
              <a:spcAft>
                <a:spcPts val="600"/>
              </a:spcAft>
              <a:defRPr sz="1150" b="1">
                <a:solidFill>
                  <a:srgbClr val="1F2937"/>
                </a:solidFill>
                <a:latin typeface="Arial"/>
              </a:defRPr>
            </a:pPr>
            <a:r>
              <a:t>Key Advancements Over Baseline:</a:t>
            </a:r>
          </a:p>
          <a:p>
            <a:pPr>
              <a:defRPr sz="1150">
                <a:solidFill>
                  <a:srgbClr val="4B5563"/>
                </a:solidFill>
                <a:latin typeface="Arial"/>
              </a:defRPr>
            </a:pPr>
            <a:r>
              <a:t>•  Dynamic multi-criteria policy optimization.</a:t>
            </a:r>
            <a:br/>
            <a:r>
              <a:t>•  Elimination of fixed, rigid rule-based thermostat schedules.</a:t>
            </a:r>
            <a:br/>
            <a:r>
              <a:t>•  Inherent robustness to unpredictable real-world occupancy surges.</a:t>
            </a:r>
          </a:p>
        </p:txBody>
      </p:sp>
      <p:sp>
        <p:nvSpPr>
          <p:cNvPr id="19" name="Rectangle 18">
            <a:extLst>
              <a:ext uri="{FF2B5EF4-FFF2-40B4-BE49-F238E27FC236}">
                <a16:creationId xmlns:a16="http://schemas.microsoft.com/office/drawing/2014/main" id="{50DB6F0A-2B54-76DF-4274-1F2511CEA18D}"/>
              </a:ext>
            </a:extLst>
          </p:cNvPr>
          <p:cNvSpPr/>
          <p:nvPr/>
        </p:nvSpPr>
        <p:spPr>
          <a:xfrm>
            <a:off x="6126632" y="1508760"/>
            <a:ext cx="19050" cy="41148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TextBox 7">
            <a:extLst>
              <a:ext uri="{FF2B5EF4-FFF2-40B4-BE49-F238E27FC236}">
                <a16:creationId xmlns:a16="http://schemas.microsoft.com/office/drawing/2014/main" id="{330238DF-1AED-A4F0-D7E1-942F5FED3A7E}"/>
              </a:ext>
            </a:extLst>
          </p:cNvPr>
          <p:cNvSpPr txBox="1"/>
          <p:nvPr/>
        </p:nvSpPr>
        <p:spPr>
          <a:xfrm>
            <a:off x="6492392" y="1508760"/>
            <a:ext cx="5120640" cy="4389120"/>
          </a:xfrm>
          <a:prstGeom prst="rect">
            <a:avLst/>
          </a:prstGeom>
          <a:noFill/>
        </p:spPr>
        <p:txBody>
          <a:bodyPr wrap="square" lIns="0"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400"/>
              </a:spcAft>
              <a:defRPr sz="1150" b="1">
                <a:solidFill>
                  <a:srgbClr val="4B5563"/>
                </a:solidFill>
                <a:latin typeface="Arial"/>
              </a:defRPr>
            </a:pPr>
            <a:r>
              <a:t>PERFORMANCE EVALUATION METRICS</a:t>
            </a:r>
          </a:p>
          <a:p>
            <a:pPr>
              <a:spcAft>
                <a:spcPts val="200"/>
              </a:spcAft>
              <a:defRPr sz="1200" b="1">
                <a:solidFill>
                  <a:srgbClr val="1F2937"/>
                </a:solidFill>
                <a:latin typeface="Arial"/>
              </a:defRPr>
            </a:pPr>
            <a:r>
              <a:t>•  Total Energy Consumption &amp; Savings (%)</a:t>
            </a:r>
          </a:p>
          <a:p>
            <a:pPr>
              <a:spcAft>
                <a:spcPts val="800"/>
              </a:spcAft>
              <a:defRPr sz="1050">
                <a:solidFill>
                  <a:srgbClr val="4B5563"/>
                </a:solidFill>
                <a:latin typeface="Arial"/>
              </a:defRPr>
            </a:pPr>
            <a:r>
              <a:t>   Quantifies net kilowatt-hour reduction compared to default rule-based configurations.</a:t>
            </a:r>
          </a:p>
          <a:p>
            <a:pPr>
              <a:spcAft>
                <a:spcPts val="200"/>
              </a:spcAft>
              <a:defRPr sz="1200" b="1">
                <a:solidFill>
                  <a:srgbClr val="1F2937"/>
                </a:solidFill>
                <a:latin typeface="Arial"/>
              </a:defRPr>
            </a:pPr>
            <a:r>
              <a:t>•  Electricity Cost &amp; Peak Demand Reduction (%)</a:t>
            </a:r>
          </a:p>
          <a:p>
            <a:pPr>
              <a:spcAft>
                <a:spcPts val="800"/>
              </a:spcAft>
              <a:defRPr sz="1050">
                <a:solidFill>
                  <a:srgbClr val="4B5563"/>
                </a:solidFill>
                <a:latin typeface="Arial"/>
              </a:defRPr>
            </a:pPr>
            <a:r>
              <a:t>   Measures financial savings derived from shaving peak demand and time-of-use tariff shifting.</a:t>
            </a:r>
          </a:p>
          <a:p>
            <a:pPr>
              <a:spcAft>
                <a:spcPts val="200"/>
              </a:spcAft>
              <a:defRPr sz="1200" b="1">
                <a:solidFill>
                  <a:srgbClr val="1F2937"/>
                </a:solidFill>
                <a:latin typeface="Arial"/>
              </a:defRPr>
            </a:pPr>
            <a:r>
              <a:t>•  Thermal Comfort Violations</a:t>
            </a:r>
          </a:p>
          <a:p>
            <a:pPr>
              <a:spcAft>
                <a:spcPts val="800"/>
              </a:spcAft>
              <a:defRPr sz="1050">
                <a:solidFill>
                  <a:srgbClr val="4B5563"/>
                </a:solidFill>
                <a:latin typeface="Arial"/>
              </a:defRPr>
            </a:pPr>
            <a:r>
              <a:t>   Counts instances of indoor temp deviating from thermal standards to evaluate agent safety bounds.</a:t>
            </a:r>
          </a:p>
          <a:p>
            <a:pPr>
              <a:spcAft>
                <a:spcPts val="200"/>
              </a:spcAft>
              <a:defRPr sz="1200" b="1">
                <a:solidFill>
                  <a:srgbClr val="1F2937"/>
                </a:solidFill>
                <a:latin typeface="Arial"/>
              </a:defRPr>
            </a:pPr>
            <a:r>
              <a:t>•  Cumulative RL Reward &amp; Policy Convergence</a:t>
            </a:r>
          </a:p>
          <a:p>
            <a:pPr>
              <a:spcAft>
                <a:spcPts val="800"/>
              </a:spcAft>
              <a:defRPr sz="1050">
                <a:solidFill>
                  <a:srgbClr val="4B5563"/>
                </a:solidFill>
                <a:latin typeface="Arial"/>
              </a:defRPr>
            </a:pPr>
            <a:r>
              <a:t>   Validates learning stability and efficiency across training epochs in CityLearn / BOPTEST.</a:t>
            </a:r>
          </a:p>
        </p:txBody>
      </p:sp>
    </p:spTree>
    <p:extLst>
      <p:ext uri="{BB962C8B-B14F-4D97-AF65-F5344CB8AC3E}">
        <p14:creationId xmlns:p14="http://schemas.microsoft.com/office/powerpoint/2010/main" val="3545306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18-08-2026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681</Words>
  <Application>Microsoft Office PowerPoint</Application>
  <PresentationFormat>Widescreen</PresentationFormat>
  <Paragraphs>105</Paragraphs>
  <Slides>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Arial</vt:lpstr>
      <vt:lpstr>Calibri</vt:lpstr>
      <vt:lpstr>Calibri Light</vt:lpstr>
      <vt:lpstr>Times New Roman</vt:lpstr>
      <vt:lpstr>Office Theme</vt:lpstr>
      <vt:lpstr>Custom Design</vt:lpstr>
      <vt:lpstr> APPLIED MACHINE LEARNING FOR TEXT ANALYTICS (24ALT3101) REVIEW – 1  Project Title</vt:lpstr>
      <vt:lpstr>OUTLINE</vt:lpstr>
      <vt:lpstr>Introduction</vt:lpstr>
      <vt:lpstr>Objectives </vt:lpstr>
      <vt:lpstr>  </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1  Project Title</dc:title>
  <dc:creator>DELL</dc:creator>
  <cp:lastModifiedBy>Dheeraj kumar</cp:lastModifiedBy>
  <cp:revision>5</cp:revision>
  <dcterms:modified xsi:type="dcterms:W3CDTF">2026-08-18T09:15:39Z</dcterms:modified>
</cp:coreProperties>
</file>